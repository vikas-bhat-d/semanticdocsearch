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e0c3cebfea4c8a" /><Relationship Type="http://schemas.openxmlformats.org/officeDocument/2006/relationships/extended-properties" Target="/docProps/app.xml" Id="Rb23e428e68f04475" /><Relationship Type="http://schemas.openxmlformats.org/officeDocument/2006/relationships/officeDocument" Target="/ppt/presentation.xml" Id="R24a2d3f940ec4d38" /></Relationships>
</file>

<file path=ppt/presentation.xml><?xml version="1.0" encoding="utf-8"?>
<p:presentation xmlns:p="http://schemas.openxmlformats.org/presentationml/2006/main">
  <p:sldMasterIdLst>
    <p:sldMasterId xmlns:r="http://schemas.openxmlformats.org/officeDocument/2006/relationships" id="2147483648" r:id="R20260042288f48af"/>
  </p:sldMasterIdLst>
  <p:notesMasterIdLst>
    <p:notesMasterId xmlns:r="http://schemas.openxmlformats.org/officeDocument/2006/relationships" r:id="Ref509881b0204c67"/>
  </p:notesMasterIdLst>
  <p:sldIdLst>
    <p:sldId xmlns:r="http://schemas.openxmlformats.org/officeDocument/2006/relationships" id="256" r:id="R27f3aa70530b41f8"/>
    <p:sldId xmlns:r="http://schemas.openxmlformats.org/officeDocument/2006/relationships" id="257" r:id="Re9ae512bed38460d"/>
    <p:sldId xmlns:r="http://schemas.openxmlformats.org/officeDocument/2006/relationships" id="258" r:id="R0c3747cea99a47a9"/>
    <p:sldId xmlns:r="http://schemas.openxmlformats.org/officeDocument/2006/relationships" id="259" r:id="Rbe1f86fc450046e7"/>
    <p:sldId xmlns:r="http://schemas.openxmlformats.org/officeDocument/2006/relationships" id="260" r:id="Rfd8ff09de2c24276"/>
    <p:sldId xmlns:r="http://schemas.openxmlformats.org/officeDocument/2006/relationships" id="261" r:id="R7610cc99acc74058"/>
    <p:sldId xmlns:r="http://schemas.openxmlformats.org/officeDocument/2006/relationships" id="262" r:id="R23cf2be1b92e416a"/>
    <p:sldId xmlns:r="http://schemas.openxmlformats.org/officeDocument/2006/relationships" id="263" r:id="Reb732bdef81b4f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88ab3d150342cc" /><Relationship Type="http://schemas.openxmlformats.org/officeDocument/2006/relationships/slideMaster" Target="/ppt/slideMasters/slideMaster1.xml" Id="R20260042288f48af" /><Relationship Type="http://schemas.openxmlformats.org/officeDocument/2006/relationships/notesMaster" Target="/ppt/notesMasters/notesMaster1.xml" Id="Ref509881b0204c67" /><Relationship Type="http://schemas.openxmlformats.org/officeDocument/2006/relationships/presProps" Target="/ppt/presProps.xml" Id="R603d7282d4d9491d" /><Relationship Type="http://schemas.openxmlformats.org/officeDocument/2006/relationships/tableStyles" Target="/ppt/tableStyles.xml" Id="R569efd69873a4983" /><Relationship Type="http://schemas.openxmlformats.org/officeDocument/2006/relationships/slide" Target="/ppt/slides/slide1.xml" Id="R27f3aa70530b41f8" /><Relationship Type="http://schemas.openxmlformats.org/officeDocument/2006/relationships/slide" Target="/ppt/slides/slide2.xml" Id="Re9ae512bed38460d" /><Relationship Type="http://schemas.openxmlformats.org/officeDocument/2006/relationships/slide" Target="/ppt/slides/slide3.xml" Id="R0c3747cea99a47a9" /><Relationship Type="http://schemas.openxmlformats.org/officeDocument/2006/relationships/slide" Target="/ppt/slides/slide4.xml" Id="Rbe1f86fc450046e7" /><Relationship Type="http://schemas.openxmlformats.org/officeDocument/2006/relationships/slide" Target="/ppt/slides/slide5.xml" Id="Rfd8ff09de2c24276" /><Relationship Type="http://schemas.openxmlformats.org/officeDocument/2006/relationships/slide" Target="/ppt/slides/slide6.xml" Id="R7610cc99acc74058" /><Relationship Type="http://schemas.openxmlformats.org/officeDocument/2006/relationships/slide" Target="/ppt/slides/slide7.xml" Id="R23cf2be1b92e416a" /><Relationship Type="http://schemas.openxmlformats.org/officeDocument/2006/relationships/slide" Target="/ppt/slides/slide8.xml" Id="Reb732bdef81b4f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c4ce75ddc34a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1db0dddf3b40cf" /><Relationship Type="http://schemas.openxmlformats.org/officeDocument/2006/relationships/notesMaster" Target="/ppt/notesMasters/notesMaster1.xml" Id="R5b1f877070854c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2053055c32461e" /><Relationship Type="http://schemas.openxmlformats.org/officeDocument/2006/relationships/notesMaster" Target="/ppt/notesMasters/notesMaster1.xml" Id="R18438a93b5a140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23e18a2908484b" /><Relationship Type="http://schemas.openxmlformats.org/officeDocument/2006/relationships/notesMaster" Target="/ppt/notesMasters/notesMaster1.xml" Id="Rde59d6f2b17348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a990bf20c24bab" /><Relationship Type="http://schemas.openxmlformats.org/officeDocument/2006/relationships/notesMaster" Target="/ppt/notesMasters/notesMaster1.xml" Id="R1c232449887b4e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e07d6b01a64a02" /><Relationship Type="http://schemas.openxmlformats.org/officeDocument/2006/relationships/notesMaster" Target="/ppt/notesMasters/notesMaster1.xml" Id="Rbf4a3397ff3049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49ad7febd240d1" /><Relationship Type="http://schemas.openxmlformats.org/officeDocument/2006/relationships/notesMaster" Target="/ppt/notesMasters/notesMaster1.xml" Id="R2d6133c9198f43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e6065f6f424539" /><Relationship Type="http://schemas.openxmlformats.org/officeDocument/2006/relationships/notesMaster" Target="/ppt/notesMasters/notesMaster1.xml" Id="R5543b033ab1a4b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e7562c6f604691" /><Relationship Type="http://schemas.openxmlformats.org/officeDocument/2006/relationships/notesMaster" Target="/ppt/notesMasters/notesMaster1.xml" Id="R527ad82e2b684d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conversion fixture. Preserve visible slide text and speaker-note text when testing PPTX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conversion fixture. Preserve visible slide text and speaker-note text when testing PPTX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conversion fixture. Preserve visible slide text and speaker-note text when testing PPTX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conversion fixture. Preserve visible slide text and speaker-note text when testing PPTX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conversion fixture. Preserve visible slide text and speaker-note text when testing PPTX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conversion fixture. Preserve visible slide text and speaker-note text when testing PPTX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conversion fixture. Preserve visible slide text and speaker-note text when testing PPTX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conversion fixture. Preserve visible slide text and speaker-note text when testing PPTX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3b69e88acf45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569825b1e349f5" /><Relationship Type="http://schemas.openxmlformats.org/officeDocument/2006/relationships/slideLayout" Target="/ppt/slideLayouts/slideLayout1.xml" Id="R15f54df801c848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f54df801c848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bee0a1029a4d84" /><Relationship Type="http://schemas.openxmlformats.org/officeDocument/2006/relationships/notesSlide" Target="/ppt/notesSlides/notesSlide1.xml" Id="R7fdef19fa1e047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d3d57046924475" /><Relationship Type="http://schemas.openxmlformats.org/officeDocument/2006/relationships/notesSlide" Target="/ppt/notesSlides/notesSlide2.xml" Id="R002f24fd345349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13731d014d43f8" /><Relationship Type="http://schemas.openxmlformats.org/officeDocument/2006/relationships/notesSlide" Target="/ppt/notesSlides/notesSlide3.xml" Id="R894b28ee72a941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e3c280ff904af6" /><Relationship Type="http://schemas.openxmlformats.org/officeDocument/2006/relationships/notesSlide" Target="/ppt/notesSlides/notesSlide4.xml" Id="Ra5084560e07e4e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ad8ca7ce9043eb" /><Relationship Type="http://schemas.openxmlformats.org/officeDocument/2006/relationships/notesSlide" Target="/ppt/notesSlides/notesSlide5.xml" Id="Re473cf794c1445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619c1f4e0fd4365" /><Relationship Type="http://schemas.openxmlformats.org/officeDocument/2006/relationships/notesSlide" Target="/ppt/notesSlides/notesSlide6.xml" Id="Rcc05a1ab83c24b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1dd7eb9e6742c9" /><Relationship Type="http://schemas.openxmlformats.org/officeDocument/2006/relationships/notesSlide" Target="/ppt/notesSlides/notesSlide7.xml" Id="Rc90c2729958b43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917885095944f9" /><Relationship Type="http://schemas.openxmlformats.org/officeDocument/2006/relationships/notesSlide" Target="/ppt/notesSlides/notesSlide8.xml" Id="R81d87a6b72ce409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C37FA2-964E-4AA5-9EC4-D573A7639609}"/>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2735"/>
                </a:solidFill>
                <a:latin typeface="Arial"/>
                <a:ea typeface="Arial"/>
                <a:cs typeface="Arial"/>
              </a:defRPr>
            </a:pPr>
            <a:r>
              <a:rPr sz="2850" b="1">
                <a:solidFill>
                  <a:srgbClr val="142735"/>
                </a:solidFill>
                <a:latin typeface="Arial"/>
                <a:ea typeface="Arial"/>
                <a:cs typeface="Arial"/>
              </a:rPr>
              <a:t>WebView indexing test corpus</a:t>
            </a:r>
          </a:p>
        </p:txBody>
      </p:sp>
      <p:sp>
        <p:nvSpPr>
          <p:cNvPr id="2" name="">
            <a:extLst xmlns:a="http://schemas.openxmlformats.org/drawingml/2006/main">
              <a:ext uri="{FF2B5EF4-FFF2-40B4-BE49-F238E27FC236}">
                <a16:creationId xmlns:a16="http://schemas.microsoft.com/office/drawing/2014/main" id="{8DEDC022-9CE6-427A-935F-FFB3590EE2D3}"/>
              </a:ext>
            </a:extLst>
          </p:cNvPr>
          <p:cNvSpPr>
            <a:spLocks xmlns:a="http://schemas.openxmlformats.org/drawingml/2006/main" noGrp="1"/>
          </p:cNvSpPr>
          <p:nvPr/>
        </p:nvSpPr>
        <p:spPr>
          <a:xfrm xmlns:a="http://schemas.openxmlformats.org/drawingml/2006/main">
            <a:off x="704850" y="11906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5B6570"/>
                </a:solidFill>
                <a:latin typeface="Arial"/>
                <a:ea typeface="Arial"/>
                <a:cs typeface="Arial"/>
              </a:defRPr>
            </a:pPr>
            <a:r>
              <a:rPr sz="1350" b="0">
                <a:solidFill>
                  <a:srgbClr val="5B6570"/>
                </a:solidFill>
                <a:latin typeface="Arial"/>
                <a:ea typeface="Arial"/>
                <a:cs typeface="Arial"/>
              </a:rPr>
              <a:t>Mixed Office files, structured exports, and search metadata</a:t>
            </a:r>
          </a:p>
        </p:txBody>
      </p:sp>
      <p:sp>
        <p:nvSpPr>
          <p:cNvPr id="3" name="">
            <a:extLst xmlns:a="http://schemas.openxmlformats.org/drawingml/2006/main">
              <a:ext uri="{FF2B5EF4-FFF2-40B4-BE49-F238E27FC236}">
                <a16:creationId xmlns:a16="http://schemas.microsoft.com/office/drawing/2014/main" id="{73FFEEFD-2646-4C60-A8E8-E8841A54B49D}"/>
              </a:ext>
            </a:extLst>
          </p:cNvPr>
          <p:cNvSpPr>
            <a:spLocks xmlns:a="http://schemas.openxmlformats.org/drawingml/2006/main" noGrp="1"/>
          </p:cNvSpPr>
          <p:nvPr/>
        </p:nvSpPr>
        <p:spPr>
          <a:xfrm xmlns:a="http://schemas.openxmlformats.org/drawingml/2006/main">
            <a:off x="800100" y="1809750"/>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The deck contains repeated technical terms, code fragments, URLs, and metadata examples so slide conversion can be checked alongside Excel, DOCX, PDF, HTML, and plain-text fixtures.</a:t>
            </a:r>
          </a:p>
        </p:txBody>
      </p:sp>
      <p:sp>
        <p:nvSpPr>
          <p:cNvPr id="4" name="">
            <a:extLst xmlns:a="http://schemas.openxmlformats.org/drawingml/2006/main">
              <a:ext uri="{FF2B5EF4-FFF2-40B4-BE49-F238E27FC236}">
                <a16:creationId xmlns:a16="http://schemas.microsoft.com/office/drawing/2014/main" id="{708BCA92-2238-4C5F-8FCE-405D08006F61}"/>
              </a:ext>
            </a:extLst>
          </p:cNvPr>
          <p:cNvSpPr>
            <a:spLocks xmlns:a="http://schemas.openxmlformats.org/drawingml/2006/main" noGrp="1"/>
          </p:cNvSpPr>
          <p:nvPr/>
        </p:nvSpPr>
        <p:spPr>
          <a:xfrm xmlns:a="http://schemas.openxmlformats.org/drawingml/2006/main">
            <a:off x="10382250" y="6191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0">
                <a:solidFill>
                  <a:srgbClr val="6B7280"/>
                </a:solidFill>
                <a:latin typeface="Arial"/>
                <a:ea typeface="Arial"/>
                <a:cs typeface="Arial"/>
              </a:defRPr>
            </a:pPr>
            <a:r>
              <a:rPr sz="975" b="0">
                <a:solidFill>
                  <a:srgbClr val="6B7280"/>
                </a:solidFill>
                <a:latin typeface="Arial"/>
                <a:ea typeface="Arial"/>
                <a:cs typeface="Arial"/>
              </a:rPr>
              <a:t>1 / 8</a:t>
            </a:r>
          </a:p>
        </p:txBody>
      </p:sp>
    </p:spTree>
    <p:extLst>
      <p:ext uri="{BB962C8B-B14F-4D97-AF65-F5344CB8AC3E}">
        <p14:creationId xmlns:p14="http://schemas.microsoft.com/office/powerpoint/2010/main" val="20773992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1748807-FEA4-48B8-B0A9-75740526D0B6}"/>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2735"/>
                </a:solidFill>
                <a:latin typeface="Arial"/>
                <a:ea typeface="Arial"/>
                <a:cs typeface="Arial"/>
              </a:defRPr>
            </a:pPr>
            <a:r>
              <a:rPr sz="2850" b="1">
                <a:solidFill>
                  <a:srgbClr val="142735"/>
                </a:solidFill>
                <a:latin typeface="Arial"/>
                <a:ea typeface="Arial"/>
                <a:cs typeface="Arial"/>
              </a:rPr>
              <a:t>Source file variety</a:t>
            </a:r>
          </a:p>
        </p:txBody>
      </p:sp>
      <p:sp>
        <p:nvSpPr>
          <p:cNvPr id="2" name="">
            <a:extLst xmlns:a="http://schemas.openxmlformats.org/drawingml/2006/main">
              <a:ext uri="{FF2B5EF4-FFF2-40B4-BE49-F238E27FC236}">
                <a16:creationId xmlns:a16="http://schemas.microsoft.com/office/drawing/2014/main" id="{E81C994D-434D-41C1-B941-E2007835DD45}"/>
              </a:ext>
            </a:extLst>
          </p:cNvPr>
          <p:cNvSpPr>
            <a:spLocks xmlns:a="http://schemas.openxmlformats.org/drawingml/2006/main" noGrp="1"/>
          </p:cNvSpPr>
          <p:nvPr/>
        </p:nvSpPr>
        <p:spPr>
          <a:xfrm xmlns:a="http://schemas.openxmlformats.org/drawingml/2006/main">
            <a:off x="800100" y="1809750"/>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The corpus includes a large messy workbook, a small reference workbook, long Markdown, plain logs, CSV, TSV, JSON, XML, HTML, DOCX, PDF, SVG, and edge-case files. Each file keeps a distinct path and extension for indexing tests.</a:t>
            </a:r>
          </a:p>
        </p:txBody>
      </p:sp>
      <p:sp>
        <p:nvSpPr>
          <p:cNvPr id="3" name="">
            <a:extLst xmlns:a="http://schemas.openxmlformats.org/drawingml/2006/main">
              <a:ext uri="{FF2B5EF4-FFF2-40B4-BE49-F238E27FC236}">
                <a16:creationId xmlns:a16="http://schemas.microsoft.com/office/drawing/2014/main" id="{6B22DE43-D86C-4E0F-9DDF-B10779C1CEEA}"/>
              </a:ext>
            </a:extLst>
          </p:cNvPr>
          <p:cNvSpPr>
            <a:spLocks xmlns:a="http://schemas.openxmlformats.org/drawingml/2006/main" noGrp="1"/>
          </p:cNvSpPr>
          <p:nvPr/>
        </p:nvSpPr>
        <p:spPr>
          <a:xfrm xmlns:a="http://schemas.openxmlformats.org/drawingml/2006/main">
            <a:off x="10382250" y="6191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0">
                <a:solidFill>
                  <a:srgbClr val="6B7280"/>
                </a:solidFill>
                <a:latin typeface="Arial"/>
                <a:ea typeface="Arial"/>
                <a:cs typeface="Arial"/>
              </a:defRPr>
            </a:pPr>
            <a:r>
              <a:rPr sz="975" b="0">
                <a:solidFill>
                  <a:srgbClr val="6B7280"/>
                </a:solidFill>
                <a:latin typeface="Arial"/>
                <a:ea typeface="Arial"/>
                <a:cs typeface="Arial"/>
              </a:rPr>
              <a:t>2 / 8</a:t>
            </a:r>
          </a:p>
        </p:txBody>
      </p:sp>
    </p:spTree>
    <p:extLst>
      <p:ext uri="{BB962C8B-B14F-4D97-AF65-F5344CB8AC3E}">
        <p14:creationId xmlns:p14="http://schemas.microsoft.com/office/powerpoint/2010/main" val="5632491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3F34F6-3D25-440A-A9CE-706FECBB3234}"/>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2735"/>
                </a:solidFill>
                <a:latin typeface="Arial"/>
                <a:ea typeface="Arial"/>
                <a:cs typeface="Arial"/>
              </a:defRPr>
            </a:pPr>
            <a:r>
              <a:rPr sz="2850" b="1">
                <a:solidFill>
                  <a:srgbClr val="142735"/>
                </a:solidFill>
                <a:latin typeface="Arial"/>
                <a:ea typeface="Arial"/>
                <a:cs typeface="Arial"/>
              </a:rPr>
              <a:t>React Native observations</a:t>
            </a:r>
          </a:p>
        </p:txBody>
      </p:sp>
      <p:sp>
        <p:nvSpPr>
          <p:cNvPr id="2" name="">
            <a:extLst xmlns:a="http://schemas.openxmlformats.org/drawingml/2006/main">
              <a:ext uri="{FF2B5EF4-FFF2-40B4-BE49-F238E27FC236}">
                <a16:creationId xmlns:a16="http://schemas.microsoft.com/office/drawing/2014/main" id="{E7C89337-1DA5-4E9B-84AA-427D7BF8D9B0}"/>
              </a:ext>
            </a:extLst>
          </p:cNvPr>
          <p:cNvSpPr>
            <a:spLocks xmlns:a="http://schemas.openxmlformats.org/drawingml/2006/main" noGrp="1"/>
          </p:cNvSpPr>
          <p:nvPr/>
        </p:nvSpPr>
        <p:spPr>
          <a:xfrm xmlns:a="http://schemas.openxmlformats.org/drawingml/2006/main">
            <a:off x="800100" y="1809750"/>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Mixed content can fail on Android while injected JavaScript behaves differently on iOS. Search should find the exact phrase mixed content and return the platform context, issue status, and related URL.</a:t>
            </a:r>
          </a:p>
        </p:txBody>
      </p:sp>
      <p:sp>
        <p:nvSpPr>
          <p:cNvPr id="3" name="">
            <a:extLst xmlns:a="http://schemas.openxmlformats.org/drawingml/2006/main">
              <a:ext uri="{FF2B5EF4-FFF2-40B4-BE49-F238E27FC236}">
                <a16:creationId xmlns:a16="http://schemas.microsoft.com/office/drawing/2014/main" id="{FE10AD23-0284-4938-B143-C6657B52E412}"/>
              </a:ext>
            </a:extLst>
          </p:cNvPr>
          <p:cNvSpPr>
            <a:spLocks xmlns:a="http://schemas.openxmlformats.org/drawingml/2006/main" noGrp="1"/>
          </p:cNvSpPr>
          <p:nvPr/>
        </p:nvSpPr>
        <p:spPr>
          <a:xfrm xmlns:a="http://schemas.openxmlformats.org/drawingml/2006/main">
            <a:off x="952500" y="3619500"/>
            <a:ext cx="9906000" cy="1428750"/>
          </a:xfrm>
          <a:prstGeom xmlns:a="http://schemas.openxmlformats.org/drawingml/2006/main" prst="rect">
            <a:avLst/>
          </a:prstGeom>
          <a:solidFill xmlns:a="http://schemas.openxmlformats.org/drawingml/2006/main">
            <a:srgbClr val="F2F6FA"/>
          </a:solidFill>
          <a:ln xmlns:a="http://schemas.openxmlformats.org/drawingml/2006/main" w="9525">
            <a:solidFill>
              <a:srgbClr val="D9EAF7"/>
            </a:solidFill>
          </a:ln>
        </p:spPr>
        <p:txBody>
          <a:bodyPr xmlns:a="http://schemas.openxmlformats.org/drawingml/2006/main"/>
          <a:lstStyle xmlns:a="http://schemas.openxmlformats.org/drawingml/2006/main"/>
          <a:p xmlns:a="http://schemas.openxmlformats.org/drawingml/2006/main">
            <a:pPr>
              <a:defRPr sz="1650" b="0">
                <a:solidFill>
                  <a:srgbClr val="17365D"/>
                </a:solidFill>
                <a:latin typeface="Arial"/>
                <a:ea typeface="Arial"/>
                <a:cs typeface="Arial"/>
              </a:defRPr>
            </a:pPr>
            <a:r>
              <a:rPr sz="1650" b="0">
                <a:solidFill>
                  <a:srgbClr val="17365D"/>
                </a:solidFill>
                <a:latin typeface="Arial"/>
                <a:ea typeface="Arial"/>
                <a:cs typeface="Arial"/>
              </a:rPr>
              <a:t>npm install react-native-webview</a:t>
            </a:r>
          </a:p>
          <a:p xmlns:a="http://schemas.openxmlformats.org/drawingml/2006/main">
            <a:pPr>
              <a:defRPr sz="1650" b="0">
                <a:solidFill>
                  <a:srgbClr val="17365D"/>
                </a:solidFill>
                <a:latin typeface="Arial"/>
                <a:ea typeface="Arial"/>
                <a:cs typeface="Arial"/>
              </a:defRPr>
            </a:pPr>
            <a:r>
              <a:rPr sz="1650" b="0">
                <a:solidFill>
                  <a:srgbClr val="17365D"/>
                </a:solidFill>
                <a:latin typeface="Arial"/>
                <a:ea typeface="Arial"/>
                <a:cs typeface="Arial"/>
              </a:rPr>
              <a:t>webView.injectJavaScript(script);</a:t>
            </a:r>
          </a:p>
        </p:txBody>
      </p:sp>
      <p:sp>
        <p:nvSpPr>
          <p:cNvPr id="4" name="">
            <a:extLst xmlns:a="http://schemas.openxmlformats.org/drawingml/2006/main">
              <a:ext uri="{FF2B5EF4-FFF2-40B4-BE49-F238E27FC236}">
                <a16:creationId xmlns:a16="http://schemas.microsoft.com/office/drawing/2014/main" id="{934D4D8C-4F1E-4EA8-86DD-430E6AEFD580}"/>
              </a:ext>
            </a:extLst>
          </p:cNvPr>
          <p:cNvSpPr>
            <a:spLocks xmlns:a="http://schemas.openxmlformats.org/drawingml/2006/main" noGrp="1"/>
          </p:cNvSpPr>
          <p:nvPr/>
        </p:nvSpPr>
        <p:spPr>
          <a:xfrm xmlns:a="http://schemas.openxmlformats.org/drawingml/2006/main">
            <a:off x="10382250" y="6191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0">
                <a:solidFill>
                  <a:srgbClr val="6B7280"/>
                </a:solidFill>
                <a:latin typeface="Arial"/>
                <a:ea typeface="Arial"/>
                <a:cs typeface="Arial"/>
              </a:defRPr>
            </a:pPr>
            <a:r>
              <a:rPr sz="975" b="0">
                <a:solidFill>
                  <a:srgbClr val="6B7280"/>
                </a:solidFill>
                <a:latin typeface="Arial"/>
                <a:ea typeface="Arial"/>
                <a:cs typeface="Arial"/>
              </a:rPr>
              <a:t>3 / 8</a:t>
            </a:r>
          </a:p>
        </p:txBody>
      </p:sp>
    </p:spTree>
    <p:extLst>
      <p:ext uri="{BB962C8B-B14F-4D97-AF65-F5344CB8AC3E}">
        <p14:creationId xmlns:p14="http://schemas.microsoft.com/office/powerpoint/2010/main" val="17991143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1A65C0-88BC-4212-8794-8C538755FD25}"/>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2735"/>
                </a:solidFill>
                <a:latin typeface="Arial"/>
                <a:ea typeface="Arial"/>
                <a:cs typeface="Arial"/>
              </a:defRPr>
            </a:pPr>
            <a:r>
              <a:rPr sz="2850" b="1">
                <a:solidFill>
                  <a:srgbClr val="142735"/>
                </a:solidFill>
                <a:latin typeface="Arial"/>
                <a:ea typeface="Arial"/>
                <a:cs typeface="Arial"/>
              </a:rPr>
              <a:t>WPF WebView2 observations</a:t>
            </a:r>
          </a:p>
        </p:txBody>
      </p:sp>
      <p:sp>
        <p:nvSpPr>
          <p:cNvPr id="2" name="">
            <a:extLst xmlns:a="http://schemas.openxmlformats.org/drawingml/2006/main">
              <a:ext uri="{FF2B5EF4-FFF2-40B4-BE49-F238E27FC236}">
                <a16:creationId xmlns:a16="http://schemas.microsoft.com/office/drawing/2014/main" id="{F96F6540-EDF1-4553-963D-9362BF97A19E}"/>
              </a:ext>
            </a:extLst>
          </p:cNvPr>
          <p:cNvSpPr>
            <a:spLocks xmlns:a="http://schemas.openxmlformats.org/drawingml/2006/main" noGrp="1"/>
          </p:cNvSpPr>
          <p:nvPr/>
        </p:nvSpPr>
        <p:spPr>
          <a:xfrm xmlns:a="http://schemas.openxmlformats.org/drawingml/2006/main">
            <a:off x="800100" y="1809750"/>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The Evergreen runtime and the native lifecycle matter during initialization. A converted excerpt should keep the method name, the surrounding note, and the runtime download URL.</a:t>
            </a:r>
          </a:p>
        </p:txBody>
      </p:sp>
      <p:sp>
        <p:nvSpPr>
          <p:cNvPr id="3" name="">
            <a:extLst xmlns:a="http://schemas.openxmlformats.org/drawingml/2006/main">
              <a:ext uri="{FF2B5EF4-FFF2-40B4-BE49-F238E27FC236}">
                <a16:creationId xmlns:a16="http://schemas.microsoft.com/office/drawing/2014/main" id="{52832883-90F4-43FD-B1B2-EFFFBA171795}"/>
              </a:ext>
            </a:extLst>
          </p:cNvPr>
          <p:cNvSpPr>
            <a:spLocks xmlns:a="http://schemas.openxmlformats.org/drawingml/2006/main" noGrp="1"/>
          </p:cNvSpPr>
          <p:nvPr/>
        </p:nvSpPr>
        <p:spPr>
          <a:xfrm xmlns:a="http://schemas.openxmlformats.org/drawingml/2006/main">
            <a:off x="952500" y="3619500"/>
            <a:ext cx="9906000" cy="1428750"/>
          </a:xfrm>
          <a:prstGeom xmlns:a="http://schemas.openxmlformats.org/drawingml/2006/main" prst="rect">
            <a:avLst/>
          </a:prstGeom>
          <a:solidFill xmlns:a="http://schemas.openxmlformats.org/drawingml/2006/main">
            <a:srgbClr val="F2F6FA"/>
          </a:solidFill>
          <a:ln xmlns:a="http://schemas.openxmlformats.org/drawingml/2006/main" w="9525">
            <a:solidFill>
              <a:srgbClr val="D9EAF7"/>
            </a:solidFill>
          </a:ln>
        </p:spPr>
        <p:txBody>
          <a:bodyPr xmlns:a="http://schemas.openxmlformats.org/drawingml/2006/main"/>
          <a:lstStyle xmlns:a="http://schemas.openxmlformats.org/drawingml/2006/main"/>
          <a:p xmlns:a="http://schemas.openxmlformats.org/drawingml/2006/main">
            <a:pPr>
              <a:defRPr sz="1650" b="0">
                <a:solidFill>
                  <a:srgbClr val="17365D"/>
                </a:solidFill>
                <a:latin typeface="Arial"/>
                <a:ea typeface="Arial"/>
                <a:cs typeface="Arial"/>
              </a:defRPr>
            </a:pPr>
            <a:r>
              <a:rPr sz="1650" b="0">
                <a:solidFill>
                  <a:srgbClr val="17365D"/>
                </a:solidFill>
                <a:latin typeface="Arial"/>
                <a:ea typeface="Arial"/>
                <a:cs typeface="Arial"/>
              </a:rPr>
              <a:t>await webView.EnsureCoreWebView2Async(null);</a:t>
            </a:r>
          </a:p>
          <a:p xmlns:a="http://schemas.openxmlformats.org/drawingml/2006/main">
            <a:pPr>
              <a:defRPr sz="1650" b="0">
                <a:solidFill>
                  <a:srgbClr val="17365D"/>
                </a:solidFill>
                <a:latin typeface="Arial"/>
                <a:ea typeface="Arial"/>
                <a:cs typeface="Arial"/>
              </a:defRPr>
            </a:pPr>
            <a:r>
              <a:rPr sz="1650" b="0">
                <a:solidFill>
                  <a:srgbClr val="17365D"/>
                </a:solidFill>
                <a:latin typeface="Arial"/>
                <a:ea typeface="Arial"/>
                <a:cs typeface="Arial"/>
              </a:rPr>
              <a:t>webView.CoreWebView2.Navigate(uri);</a:t>
            </a:r>
          </a:p>
        </p:txBody>
      </p:sp>
      <p:sp>
        <p:nvSpPr>
          <p:cNvPr id="4" name="">
            <a:extLst xmlns:a="http://schemas.openxmlformats.org/drawingml/2006/main">
              <a:ext uri="{FF2B5EF4-FFF2-40B4-BE49-F238E27FC236}">
                <a16:creationId xmlns:a16="http://schemas.microsoft.com/office/drawing/2014/main" id="{6BAA2DF0-8F5A-453C-B77F-40577625E3D2}"/>
              </a:ext>
            </a:extLst>
          </p:cNvPr>
          <p:cNvSpPr>
            <a:spLocks xmlns:a="http://schemas.openxmlformats.org/drawingml/2006/main" noGrp="1"/>
          </p:cNvSpPr>
          <p:nvPr/>
        </p:nvSpPr>
        <p:spPr>
          <a:xfrm xmlns:a="http://schemas.openxmlformats.org/drawingml/2006/main">
            <a:off x="10382250" y="6191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0">
                <a:solidFill>
                  <a:srgbClr val="6B7280"/>
                </a:solidFill>
                <a:latin typeface="Arial"/>
                <a:ea typeface="Arial"/>
                <a:cs typeface="Arial"/>
              </a:defRPr>
            </a:pPr>
            <a:r>
              <a:rPr sz="975" b="0">
                <a:solidFill>
                  <a:srgbClr val="6B7280"/>
                </a:solidFill>
                <a:latin typeface="Arial"/>
                <a:ea typeface="Arial"/>
                <a:cs typeface="Arial"/>
              </a:rPr>
              <a:t>4 / 8</a:t>
            </a:r>
          </a:p>
        </p:txBody>
      </p:sp>
    </p:spTree>
    <p:extLst>
      <p:ext uri="{BB962C8B-B14F-4D97-AF65-F5344CB8AC3E}">
        <p14:creationId xmlns:p14="http://schemas.microsoft.com/office/powerpoint/2010/main" val="11121111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D15178-29A5-4FEF-97EB-BB5FA2416444}"/>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2735"/>
                </a:solidFill>
                <a:latin typeface="Arial"/>
                <a:ea typeface="Arial"/>
                <a:cs typeface="Arial"/>
              </a:defRPr>
            </a:pPr>
            <a:r>
              <a:rPr sz="2850" b="1">
                <a:solidFill>
                  <a:srgbClr val="142735"/>
                </a:solidFill>
                <a:latin typeface="Arial"/>
                <a:ea typeface="Arial"/>
                <a:cs typeface="Arial"/>
              </a:rPr>
              <a:t>Bridge payload behavior</a:t>
            </a:r>
          </a:p>
        </p:txBody>
      </p:sp>
      <p:sp>
        <p:nvSpPr>
          <p:cNvPr id="2" name="">
            <a:extLst xmlns:a="http://schemas.openxmlformats.org/drawingml/2006/main">
              <a:ext uri="{FF2B5EF4-FFF2-40B4-BE49-F238E27FC236}">
                <a16:creationId xmlns:a16="http://schemas.microsoft.com/office/drawing/2014/main" id="{B3F4BC08-E74B-4AAE-8EEA-17B2BBA50990}"/>
              </a:ext>
            </a:extLst>
          </p:cNvPr>
          <p:cNvSpPr>
            <a:spLocks xmlns:a="http://schemas.openxmlformats.org/drawingml/2006/main" noGrp="1"/>
          </p:cNvSpPr>
          <p:nvPr/>
        </p:nvSpPr>
        <p:spPr>
          <a:xfrm xmlns:a="http://schemas.openxmlformats.org/drawingml/2006/main">
            <a:off x="800100" y="1809750"/>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PostWebMessageAsString and ExecuteScriptAsync appear in multiple source files. Repeated mentions are intentional so semantic search and duplicate-content handling can be compared.</a:t>
            </a:r>
          </a:p>
        </p:txBody>
      </p:sp>
      <p:sp>
        <p:nvSpPr>
          <p:cNvPr id="3" name="">
            <a:extLst xmlns:a="http://schemas.openxmlformats.org/drawingml/2006/main">
              <a:ext uri="{FF2B5EF4-FFF2-40B4-BE49-F238E27FC236}">
                <a16:creationId xmlns:a16="http://schemas.microsoft.com/office/drawing/2014/main" id="{0E916D72-5BF4-4322-8E80-624F37CDE97D}"/>
              </a:ext>
            </a:extLst>
          </p:cNvPr>
          <p:cNvSpPr>
            <a:spLocks xmlns:a="http://schemas.openxmlformats.org/drawingml/2006/main" noGrp="1"/>
          </p:cNvSpPr>
          <p:nvPr/>
        </p:nvSpPr>
        <p:spPr>
          <a:xfrm xmlns:a="http://schemas.openxmlformats.org/drawingml/2006/main">
            <a:off x="952500" y="3619500"/>
            <a:ext cx="9906000" cy="1428750"/>
          </a:xfrm>
          <a:prstGeom xmlns:a="http://schemas.openxmlformats.org/drawingml/2006/main" prst="rect">
            <a:avLst/>
          </a:prstGeom>
          <a:solidFill xmlns:a="http://schemas.openxmlformats.org/drawingml/2006/main">
            <a:srgbClr val="F2F6FA"/>
          </a:solidFill>
          <a:ln xmlns:a="http://schemas.openxmlformats.org/drawingml/2006/main" w="9525">
            <a:solidFill>
              <a:srgbClr val="D9EAF7"/>
            </a:solidFill>
          </a:ln>
        </p:spPr>
        <p:txBody>
          <a:bodyPr xmlns:a="http://schemas.openxmlformats.org/drawingml/2006/main"/>
          <a:lstStyle xmlns:a="http://schemas.openxmlformats.org/drawingml/2006/main"/>
          <a:p xmlns:a="http://schemas.openxmlformats.org/drawingml/2006/main">
            <a:pPr>
              <a:defRPr sz="1650" b="0">
                <a:solidFill>
                  <a:srgbClr val="17365D"/>
                </a:solidFill>
                <a:latin typeface="Arial"/>
                <a:ea typeface="Arial"/>
                <a:cs typeface="Arial"/>
              </a:defRPr>
            </a:pPr>
            <a:r>
              <a:rPr sz="1650" b="0">
                <a:solidFill>
                  <a:srgbClr val="17365D"/>
                </a:solidFill>
                <a:latin typeface="Arial"/>
                <a:ea typeface="Arial"/>
                <a:cs typeface="Arial"/>
              </a:rPr>
              <a:t>webView.CoreWebView2.PostWebMessageAsString(payload);</a:t>
            </a:r>
          </a:p>
          <a:p xmlns:a="http://schemas.openxmlformats.org/drawingml/2006/main">
            <a:pPr>
              <a:defRPr sz="1650" b="0">
                <a:solidFill>
                  <a:srgbClr val="17365D"/>
                </a:solidFill>
                <a:latin typeface="Arial"/>
                <a:ea typeface="Arial"/>
                <a:cs typeface="Arial"/>
              </a:defRPr>
            </a:pPr>
            <a:r>
              <a:rPr sz="1650" b="0">
                <a:solidFill>
                  <a:srgbClr val="17365D"/>
                </a:solidFill>
                <a:latin typeface="Arial"/>
                <a:ea typeface="Arial"/>
                <a:cs typeface="Arial"/>
              </a:rPr>
              <a:t>await CoreWebView2.ExecuteScriptAsync(js);</a:t>
            </a:r>
          </a:p>
        </p:txBody>
      </p:sp>
      <p:sp>
        <p:nvSpPr>
          <p:cNvPr id="4" name="">
            <a:extLst xmlns:a="http://schemas.openxmlformats.org/drawingml/2006/main">
              <a:ext uri="{FF2B5EF4-FFF2-40B4-BE49-F238E27FC236}">
                <a16:creationId xmlns:a16="http://schemas.microsoft.com/office/drawing/2014/main" id="{01A9D8C9-46EB-431E-A9D3-E52D6E38395D}"/>
              </a:ext>
            </a:extLst>
          </p:cNvPr>
          <p:cNvSpPr>
            <a:spLocks xmlns:a="http://schemas.openxmlformats.org/drawingml/2006/main" noGrp="1"/>
          </p:cNvSpPr>
          <p:nvPr/>
        </p:nvSpPr>
        <p:spPr>
          <a:xfrm xmlns:a="http://schemas.openxmlformats.org/drawingml/2006/main">
            <a:off x="10382250" y="6191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0">
                <a:solidFill>
                  <a:srgbClr val="6B7280"/>
                </a:solidFill>
                <a:latin typeface="Arial"/>
                <a:ea typeface="Arial"/>
                <a:cs typeface="Arial"/>
              </a:defRPr>
            </a:pPr>
            <a:r>
              <a:rPr sz="975" b="0">
                <a:solidFill>
                  <a:srgbClr val="6B7280"/>
                </a:solidFill>
                <a:latin typeface="Arial"/>
                <a:ea typeface="Arial"/>
                <a:cs typeface="Arial"/>
              </a:rPr>
              <a:t>5 / 8</a:t>
            </a:r>
          </a:p>
        </p:txBody>
      </p:sp>
    </p:spTree>
    <p:extLst>
      <p:ext uri="{BB962C8B-B14F-4D97-AF65-F5344CB8AC3E}">
        <p14:creationId xmlns:p14="http://schemas.microsoft.com/office/powerpoint/2010/main" val="2384658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9CF984-BB1D-47BC-941D-E09051A2681E}"/>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2735"/>
                </a:solidFill>
                <a:latin typeface="Arial"/>
                <a:ea typeface="Arial"/>
                <a:cs typeface="Arial"/>
              </a:defRPr>
            </a:pPr>
            <a:r>
              <a:rPr sz="2850" b="1">
                <a:solidFill>
                  <a:srgbClr val="142735"/>
                </a:solidFill>
                <a:latin typeface="Arial"/>
                <a:ea typeface="Arial"/>
                <a:cs typeface="Arial"/>
              </a:rPr>
              <a:t>Chunk metadata</a:t>
            </a:r>
          </a:p>
        </p:txBody>
      </p:sp>
      <p:sp>
        <p:nvSpPr>
          <p:cNvPr id="2" name="">
            <a:extLst xmlns:a="http://schemas.openxmlformats.org/drawingml/2006/main">
              <a:ext uri="{FF2B5EF4-FFF2-40B4-BE49-F238E27FC236}">
                <a16:creationId xmlns:a16="http://schemas.microsoft.com/office/drawing/2014/main" id="{1A2271E3-2173-471C-B8C7-CD0DD06C152E}"/>
              </a:ext>
            </a:extLst>
          </p:cNvPr>
          <p:cNvSpPr>
            <a:spLocks xmlns:a="http://schemas.openxmlformats.org/drawingml/2006/main" noGrp="1"/>
          </p:cNvSpPr>
          <p:nvPr/>
        </p:nvSpPr>
        <p:spPr>
          <a:xfrm xmlns:a="http://schemas.openxmlformats.org/drawingml/2006/main">
            <a:off x="800100" y="1809750"/>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Each result should keep file_path, file_name, file_extension, chunk_index, chunk_total, file_modified_at, and indexed_at. Sheet and section context should remain near the converted content.</a:t>
            </a:r>
          </a:p>
        </p:txBody>
      </p:sp>
      <p:sp>
        <p:nvSpPr>
          <p:cNvPr id="3" name="">
            <a:extLst xmlns:a="http://schemas.openxmlformats.org/drawingml/2006/main">
              <a:ext uri="{FF2B5EF4-FFF2-40B4-BE49-F238E27FC236}">
                <a16:creationId xmlns:a16="http://schemas.microsoft.com/office/drawing/2014/main" id="{74744C86-1B4B-4CBC-AA41-6CB8CD78693B}"/>
              </a:ext>
            </a:extLst>
          </p:cNvPr>
          <p:cNvSpPr>
            <a:spLocks xmlns:a="http://schemas.openxmlformats.org/drawingml/2006/main" noGrp="1"/>
          </p:cNvSpPr>
          <p:nvPr/>
        </p:nvSpPr>
        <p:spPr>
          <a:xfrm xmlns:a="http://schemas.openxmlformats.org/drawingml/2006/main">
            <a:off x="952500" y="3619500"/>
            <a:ext cx="9906000" cy="1524000"/>
          </a:xfrm>
          <a:prstGeom xmlns:a="http://schemas.openxmlformats.org/drawingml/2006/main" prst="rect">
            <a:avLst/>
          </a:prstGeom>
          <a:solidFill xmlns:a="http://schemas.openxmlformats.org/drawingml/2006/main">
            <a:srgbClr val="F2F6FA"/>
          </a:solidFill>
          <a:ln xmlns:a="http://schemas.openxmlformats.org/drawingml/2006/main" w="9525">
            <a:solidFill>
              <a:srgbClr val="D9EAF7"/>
            </a:solidFill>
          </a:ln>
        </p:spPr>
        <p:txBody>
          <a:bodyPr xmlns:a="http://schemas.openxmlformats.org/drawingml/2006/main"/>
          <a:lstStyle xmlns:a="http://schemas.openxmlformats.org/drawingml/2006/main"/>
          <a:p xmlns:a="http://schemas.openxmlformats.org/drawingml/2006/main">
            <a:pPr>
              <a:defRPr sz="1575" b="0">
                <a:solidFill>
                  <a:srgbClr val="17365D"/>
                </a:solidFill>
                <a:latin typeface="Arial"/>
                <a:ea typeface="Arial"/>
                <a:cs typeface="Arial"/>
              </a:defRPr>
            </a:pPr>
            <a:r>
              <a:rPr sz="1575" b="0">
                <a:solidFill>
                  <a:srgbClr val="17365D"/>
                </a:solidFill>
                <a:latin typeface="Arial"/>
                <a:ea typeface="Arial"/>
                <a:cs typeface="Arial"/>
              </a:rPr>
              <a:t>file_path   \\pc135\D\Desktop\SampleFolders\file.xlsx</a:t>
            </a:r>
          </a:p>
          <a:p xmlns:a="http://schemas.openxmlformats.org/drawingml/2006/main">
            <a:pPr>
              <a:defRPr sz="1575" b="0">
                <a:solidFill>
                  <a:srgbClr val="17365D"/>
                </a:solidFill>
                <a:latin typeface="Arial"/>
                <a:ea typeface="Arial"/>
                <a:cs typeface="Arial"/>
              </a:defRPr>
            </a:pPr>
            <a:r>
              <a:rPr sz="1575" b="0">
                <a:solidFill>
                  <a:srgbClr val="17365D"/>
                </a:solidFill>
                <a:latin typeface="Arial"/>
                <a:ea typeface="Arial"/>
                <a:cs typeface="Arial"/>
              </a:rPr>
              <a:t>chunk_index   3</a:t>
            </a:r>
          </a:p>
          <a:p xmlns:a="http://schemas.openxmlformats.org/drawingml/2006/main">
            <a:pPr>
              <a:defRPr sz="1575" b="0">
                <a:solidFill>
                  <a:srgbClr val="17365D"/>
                </a:solidFill>
                <a:latin typeface="Arial"/>
                <a:ea typeface="Arial"/>
                <a:cs typeface="Arial"/>
              </a:defRPr>
            </a:pPr>
            <a:r>
              <a:rPr sz="1575" b="0">
                <a:solidFill>
                  <a:srgbClr val="17365D"/>
                </a:solidFill>
                <a:latin typeface="Arial"/>
                <a:ea typeface="Arial"/>
                <a:cs typeface="Arial"/>
              </a:rPr>
              <a:t>chunk_total   12</a:t>
            </a:r>
          </a:p>
          <a:p xmlns:a="http://schemas.openxmlformats.org/drawingml/2006/main">
            <a:pPr>
              <a:defRPr sz="1575" b="0">
                <a:solidFill>
                  <a:srgbClr val="17365D"/>
                </a:solidFill>
                <a:latin typeface="Arial"/>
                <a:ea typeface="Arial"/>
                <a:cs typeface="Arial"/>
              </a:defRPr>
            </a:pPr>
            <a:r>
              <a:rPr sz="1575" b="0">
                <a:solidFill>
                  <a:srgbClr val="17365D"/>
                </a:solidFill>
                <a:latin typeface="Arial"/>
                <a:ea typeface="Arial"/>
                <a:cs typeface="Arial"/>
              </a:rPr>
              <a:t>file_modified_at   2026-10-03T00:00:00Z</a:t>
            </a:r>
          </a:p>
        </p:txBody>
      </p:sp>
      <p:sp>
        <p:nvSpPr>
          <p:cNvPr id="4" name="">
            <a:extLst xmlns:a="http://schemas.openxmlformats.org/drawingml/2006/main">
              <a:ext uri="{FF2B5EF4-FFF2-40B4-BE49-F238E27FC236}">
                <a16:creationId xmlns:a16="http://schemas.microsoft.com/office/drawing/2014/main" id="{DC400D67-5980-482E-A729-012A0891064A}"/>
              </a:ext>
            </a:extLst>
          </p:cNvPr>
          <p:cNvSpPr>
            <a:spLocks xmlns:a="http://schemas.openxmlformats.org/drawingml/2006/main" noGrp="1"/>
          </p:cNvSpPr>
          <p:nvPr/>
        </p:nvSpPr>
        <p:spPr>
          <a:xfrm xmlns:a="http://schemas.openxmlformats.org/drawingml/2006/main">
            <a:off x="10382250" y="6191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0">
                <a:solidFill>
                  <a:srgbClr val="6B7280"/>
                </a:solidFill>
                <a:latin typeface="Arial"/>
                <a:ea typeface="Arial"/>
                <a:cs typeface="Arial"/>
              </a:defRPr>
            </a:pPr>
            <a:r>
              <a:rPr sz="975" b="0">
                <a:solidFill>
                  <a:srgbClr val="6B7280"/>
                </a:solidFill>
                <a:latin typeface="Arial"/>
                <a:ea typeface="Arial"/>
                <a:cs typeface="Arial"/>
              </a:rPr>
              <a:t>6 / 8</a:t>
            </a:r>
          </a:p>
        </p:txBody>
      </p:sp>
    </p:spTree>
    <p:extLst>
      <p:ext uri="{BB962C8B-B14F-4D97-AF65-F5344CB8AC3E}">
        <p14:creationId xmlns:p14="http://schemas.microsoft.com/office/powerpoint/2010/main" val="2705077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349245-75C3-4E9E-B171-6D4E2B1C3B29}"/>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2735"/>
                </a:solidFill>
                <a:latin typeface="Arial"/>
                <a:ea typeface="Arial"/>
                <a:cs typeface="Arial"/>
              </a:defRPr>
            </a:pPr>
            <a:r>
              <a:rPr sz="2850" b="1">
                <a:solidFill>
                  <a:srgbClr val="142735"/>
                </a:solidFill>
                <a:latin typeface="Arial"/>
                <a:ea typeface="Arial"/>
                <a:cs typeface="Arial"/>
              </a:rPr>
              <a:t>Incremental indexing</a:t>
            </a:r>
          </a:p>
        </p:txBody>
      </p:sp>
      <p:sp>
        <p:nvSpPr>
          <p:cNvPr id="2" name="">
            <a:extLst xmlns:a="http://schemas.openxmlformats.org/drawingml/2006/main">
              <a:ext uri="{FF2B5EF4-FFF2-40B4-BE49-F238E27FC236}">
                <a16:creationId xmlns:a16="http://schemas.microsoft.com/office/drawing/2014/main" id="{A1AF1E89-5797-4F59-9450-0DEF1F01BC0E}"/>
              </a:ext>
            </a:extLst>
          </p:cNvPr>
          <p:cNvSpPr>
            <a:spLocks xmlns:a="http://schemas.openxmlformats.org/drawingml/2006/main" noGrp="1"/>
          </p:cNvSpPr>
          <p:nvPr/>
        </p:nvSpPr>
        <p:spPr>
          <a:xfrm xmlns:a="http://schemas.openxmlformats.org/drawingml/2006/main">
            <a:off x="800100" y="1809750"/>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The changed and deleted XML fixtures use drive-letter paths from a backup export. The parser should normalize paths, delete old points, and avoid re-indexing deleted files during traversal.</a:t>
            </a:r>
          </a:p>
        </p:txBody>
      </p:sp>
      <p:sp>
        <p:nvSpPr>
          <p:cNvPr id="3" name="">
            <a:extLst xmlns:a="http://schemas.openxmlformats.org/drawingml/2006/main">
              <a:ext uri="{FF2B5EF4-FFF2-40B4-BE49-F238E27FC236}">
                <a16:creationId xmlns:a16="http://schemas.microsoft.com/office/drawing/2014/main" id="{2FE43080-EBCA-4836-A15E-A16AFB259EBF}"/>
              </a:ext>
            </a:extLst>
          </p:cNvPr>
          <p:cNvSpPr>
            <a:spLocks xmlns:a="http://schemas.openxmlformats.org/drawingml/2006/main" noGrp="1"/>
          </p:cNvSpPr>
          <p:nvPr/>
        </p:nvSpPr>
        <p:spPr>
          <a:xfrm xmlns:a="http://schemas.openxmlformats.org/drawingml/2006/main">
            <a:off x="952500" y="3619500"/>
            <a:ext cx="9906000" cy="1428750"/>
          </a:xfrm>
          <a:prstGeom xmlns:a="http://schemas.openxmlformats.org/drawingml/2006/main" prst="rect">
            <a:avLst/>
          </a:prstGeom>
          <a:solidFill xmlns:a="http://schemas.openxmlformats.org/drawingml/2006/main">
            <a:srgbClr val="F2F6FA"/>
          </a:solidFill>
          <a:ln xmlns:a="http://schemas.openxmlformats.org/drawingml/2006/main" w="9525">
            <a:solidFill>
              <a:srgbClr val="D9EAF7"/>
            </a:solidFill>
          </a:ln>
        </p:spPr>
        <p:txBody>
          <a:bodyPr xmlns:a="http://schemas.openxmlformats.org/drawingml/2006/main"/>
          <a:lstStyle xmlns:a="http://schemas.openxmlformats.org/drawingml/2006/main"/>
          <a:p xmlns:a="http://schemas.openxmlformats.org/drawingml/2006/main">
            <a:pPr>
              <a:defRPr sz="1650" b="0">
                <a:solidFill>
                  <a:srgbClr val="17365D"/>
                </a:solidFill>
                <a:latin typeface="Arial"/>
                <a:ea typeface="Arial"/>
                <a:cs typeface="Arial"/>
              </a:defRPr>
            </a:pPr>
            <a:r>
              <a:rPr sz="1650" b="0">
                <a:solidFill>
                  <a:srgbClr val="17365D"/>
                </a:solidFill>
                <a:latin typeface="Arial"/>
                <a:ea typeface="Arial"/>
                <a:cs typeface="Arial"/>
              </a:rPr>
              <a:t>changed_paths.xml</a:t>
            </a:r>
          </a:p>
          <a:p xmlns:a="http://schemas.openxmlformats.org/drawingml/2006/main">
            <a:pPr>
              <a:defRPr sz="1650" b="0">
                <a:solidFill>
                  <a:srgbClr val="17365D"/>
                </a:solidFill>
                <a:latin typeface="Arial"/>
                <a:ea typeface="Arial"/>
                <a:cs typeface="Arial"/>
              </a:defRPr>
            </a:pPr>
            <a:r>
              <a:rPr sz="1650" b="0">
                <a:solidFill>
                  <a:srgbClr val="17365D"/>
                </a:solidFill>
                <a:latin typeface="Arial"/>
                <a:ea typeface="Arial"/>
                <a:cs typeface="Arial"/>
              </a:rPr>
              <a:t>deleted_paths.xml</a:t>
            </a:r>
          </a:p>
          <a:p xmlns:a="http://schemas.openxmlformats.org/drawingml/2006/main">
            <a:pPr>
              <a:defRPr sz="1650" b="0">
                <a:solidFill>
                  <a:srgbClr val="17365D"/>
                </a:solidFill>
                <a:latin typeface="Arial"/>
                <a:ea typeface="Arial"/>
                <a:cs typeface="Arial"/>
              </a:defRPr>
            </a:pPr>
            <a:r>
              <a:rPr sz="1650" b="0">
                <a:solidFill>
                  <a:srgbClr val="17365D"/>
                </a:solidFill>
                <a:latin typeface="Arial"/>
                <a:ea typeface="Arial"/>
                <a:cs typeface="Arial"/>
              </a:rPr>
              <a:t>"E:\\Winman Backup\\2026-10-03\\PC135(D.)\\Desktop\\SampleFolders\\file.xlsx"</a:t>
            </a:r>
          </a:p>
        </p:txBody>
      </p:sp>
      <p:sp>
        <p:nvSpPr>
          <p:cNvPr id="4" name="">
            <a:extLst xmlns:a="http://schemas.openxmlformats.org/drawingml/2006/main">
              <a:ext uri="{FF2B5EF4-FFF2-40B4-BE49-F238E27FC236}">
                <a16:creationId xmlns:a16="http://schemas.microsoft.com/office/drawing/2014/main" id="{06D2BDA0-E43D-42EE-A0E2-789AB32DE395}"/>
              </a:ext>
            </a:extLst>
          </p:cNvPr>
          <p:cNvSpPr>
            <a:spLocks xmlns:a="http://schemas.openxmlformats.org/drawingml/2006/main" noGrp="1"/>
          </p:cNvSpPr>
          <p:nvPr/>
        </p:nvSpPr>
        <p:spPr>
          <a:xfrm xmlns:a="http://schemas.openxmlformats.org/drawingml/2006/main">
            <a:off x="10382250" y="6191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0">
                <a:solidFill>
                  <a:srgbClr val="6B7280"/>
                </a:solidFill>
                <a:latin typeface="Arial"/>
                <a:ea typeface="Arial"/>
                <a:cs typeface="Arial"/>
              </a:defRPr>
            </a:pPr>
            <a:r>
              <a:rPr sz="975" b="0">
                <a:solidFill>
                  <a:srgbClr val="6B7280"/>
                </a:solidFill>
                <a:latin typeface="Arial"/>
                <a:ea typeface="Arial"/>
                <a:cs typeface="Arial"/>
              </a:rPr>
              <a:t>7 / 8</a:t>
            </a:r>
          </a:p>
        </p:txBody>
      </p:sp>
    </p:spTree>
    <p:extLst>
      <p:ext uri="{BB962C8B-B14F-4D97-AF65-F5344CB8AC3E}">
        <p14:creationId xmlns:p14="http://schemas.microsoft.com/office/powerpoint/2010/main" val="20598893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97ACA0-FD22-4140-AAD4-29309A945F57}"/>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2735"/>
                </a:solidFill>
                <a:latin typeface="Arial"/>
                <a:ea typeface="Arial"/>
                <a:cs typeface="Arial"/>
              </a:defRPr>
            </a:pPr>
            <a:r>
              <a:rPr sz="2850" b="1">
                <a:solidFill>
                  <a:srgbClr val="142735"/>
                </a:solidFill>
                <a:latin typeface="Arial"/>
                <a:ea typeface="Arial"/>
                <a:cs typeface="Arial"/>
              </a:rPr>
              <a:t>Regression queries</a:t>
            </a:r>
          </a:p>
        </p:txBody>
      </p:sp>
      <p:sp>
        <p:nvSpPr>
          <p:cNvPr id="2" name="">
            <a:extLst xmlns:a="http://schemas.openxmlformats.org/drawingml/2006/main">
              <a:ext uri="{FF2B5EF4-FFF2-40B4-BE49-F238E27FC236}">
                <a16:creationId xmlns:a16="http://schemas.microsoft.com/office/drawing/2014/main" id="{9D33B68B-9338-4597-9E4B-4BB88AC50311}"/>
              </a:ext>
            </a:extLst>
          </p:cNvPr>
          <p:cNvSpPr>
            <a:spLocks xmlns:a="http://schemas.openxmlformats.org/drawingml/2006/main" noGrp="1"/>
          </p:cNvSpPr>
          <p:nvPr/>
        </p:nvSpPr>
        <p:spPr>
          <a:xfrm xmlns:a="http://schemas.openxmlformats.org/drawingml/2006/main">
            <a:off x="800100" y="1809750"/>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0">
                <a:solidFill>
                  <a:srgbClr val="1F2937"/>
                </a:solidFill>
                <a:latin typeface="Arial"/>
                <a:ea typeface="Arial"/>
                <a:cs typeface="Arial"/>
              </a:defRPr>
            </a:pPr>
            <a:r>
              <a:rPr sz="1875" b="0">
                <a:solidFill>
                  <a:srgbClr val="1F2937"/>
                </a:solidFill>
                <a:latin typeface="Arial"/>
                <a:ea typeface="Arial"/>
                <a:cs typeface="Arial"/>
              </a:rPr>
              <a:t>Search terms include mixed content, EnsureCoreWebView2Async, PostWebMessageAsString, MarkItDown, file_modified_at, duplicate content hash, changed and deleted XML paths, and Unicode café 東京.</a:t>
            </a:r>
          </a:p>
        </p:txBody>
      </p:sp>
      <p:sp>
        <p:nvSpPr>
          <p:cNvPr id="3" name="">
            <a:extLst xmlns:a="http://schemas.openxmlformats.org/drawingml/2006/main">
              <a:ext uri="{FF2B5EF4-FFF2-40B4-BE49-F238E27FC236}">
                <a16:creationId xmlns:a16="http://schemas.microsoft.com/office/drawing/2014/main" id="{ED94A5EF-F56B-460C-8034-CBFC2C5D93EB}"/>
              </a:ext>
            </a:extLst>
          </p:cNvPr>
          <p:cNvSpPr>
            <a:spLocks xmlns:a="http://schemas.openxmlformats.org/drawingml/2006/main" noGrp="1"/>
          </p:cNvSpPr>
          <p:nvPr/>
        </p:nvSpPr>
        <p:spPr>
          <a:xfrm xmlns:a="http://schemas.openxmlformats.org/drawingml/2006/main">
            <a:off x="800100" y="552450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0">
                <a:solidFill>
                  <a:srgbClr val="6B7280"/>
                </a:solidFill>
                <a:latin typeface="Arial"/>
                <a:ea typeface="Arial"/>
                <a:cs typeface="Arial"/>
              </a:defRPr>
            </a:pPr>
            <a:r>
              <a:rPr sz="1050" b="0">
                <a:solidFill>
                  <a:srgbClr val="6B7280"/>
                </a:solidFill>
                <a:latin typeface="Arial"/>
                <a:ea typeface="Arial"/>
                <a:cs typeface="Arial"/>
              </a:rPr>
              <a:t>All content is synthetic test data.</a:t>
            </a:r>
          </a:p>
        </p:txBody>
      </p:sp>
      <p:sp>
        <p:nvSpPr>
          <p:cNvPr id="4" name="">
            <a:extLst xmlns:a="http://schemas.openxmlformats.org/drawingml/2006/main">
              <a:ext uri="{FF2B5EF4-FFF2-40B4-BE49-F238E27FC236}">
                <a16:creationId xmlns:a16="http://schemas.microsoft.com/office/drawing/2014/main" id="{1998608D-1CEB-43AC-B4CC-E0427D6E0673}"/>
              </a:ext>
            </a:extLst>
          </p:cNvPr>
          <p:cNvSpPr>
            <a:spLocks xmlns:a="http://schemas.openxmlformats.org/drawingml/2006/main" noGrp="1"/>
          </p:cNvSpPr>
          <p:nvPr/>
        </p:nvSpPr>
        <p:spPr>
          <a:xfrm xmlns:a="http://schemas.openxmlformats.org/drawingml/2006/main">
            <a:off x="10382250" y="6191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0">
                <a:solidFill>
                  <a:srgbClr val="6B7280"/>
                </a:solidFill>
                <a:latin typeface="Arial"/>
                <a:ea typeface="Arial"/>
                <a:cs typeface="Arial"/>
              </a:defRPr>
            </a:pPr>
            <a:r>
              <a:rPr sz="975" b="0">
                <a:solidFill>
                  <a:srgbClr val="6B7280"/>
                </a:solidFill>
                <a:latin typeface="Arial"/>
                <a:ea typeface="Arial"/>
                <a:cs typeface="Arial"/>
              </a:rPr>
              <a:t>8 / 8</a:t>
            </a:r>
          </a:p>
        </p:txBody>
      </p:sp>
    </p:spTree>
    <p:extLst>
      <p:ext uri="{BB962C8B-B14F-4D97-AF65-F5344CB8AC3E}">
        <p14:creationId xmlns:p14="http://schemas.microsoft.com/office/powerpoint/2010/main" val="11488438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2026-10-03T08:26:52.5850000Z</dcterms:created>
  <dcterms:modified xsi:type="dcterms:W3CDTF">2026-10-03T08:26:52.5860000Z</dcterms:modified>
</coreProperties>
</file>